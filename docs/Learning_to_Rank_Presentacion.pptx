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Segoe UI"/>
              </a:rPr>
              <a:t>CHARLA TÉCNICA · MACHINE LEARNING /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Learning to Rank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de la teoría al código, </a:t>
            </a:r>
            <a:r>
              <a:rPr sz="2600" b="1">
                <a:solidFill>
                  <a:srgbClr val="E8EAED"/>
                </a:solidFill>
                <a:latin typeface="Segoe UI"/>
              </a:rPr>
              <a:t>en un repo ejecutable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79476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5156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D97757"/>
                </a:solidFill>
                <a:latin typeface="Segoe UI"/>
              </a:rPr>
              <a:t>BLOQUE 1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Fundamentos: ranking ≠ clasificación · query groups · pointwise / pairwise / listwise · NDCG, MAP, MRR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7AA2C7"/>
                </a:solidFill>
                <a:latin typeface="Segoe UI"/>
              </a:rPr>
              <a:t>BLOQUE 2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El repositorio: dataset sintético · baseline pointwise · XGBRanker &amp; LGBMRanker · allRank · resultados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8CC28C"/>
                </a:solidFill>
                <a:latin typeface="Segoe UI"/>
              </a:rPr>
              <a:t>BLOQUE 3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Ejecutar y extender: runbook · fallos comunes · lectura crítica de los números · de offline a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5332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Cuatro enfoques de LTR, un único dataset, métricas comparables. Todas las cifras de este deck se reprodujeron ejecutando el repo con </a:t>
            </a:r>
            <a:r>
              <a:rPr sz="1100" b="0">
                <a:solidFill>
                  <a:srgbClr val="66707E"/>
                </a:solidFill>
                <a:latin typeface="Consolas"/>
              </a:rPr>
              <a:t>seed=42</a:t>
            </a:r>
            <a:r>
              <a:rPr sz="1100" b="0">
                <a:solidFill>
                  <a:srgbClr val="66707E"/>
                </a:solidFill>
                <a:latin typeface="Segoe UI"/>
              </a:rPr>
              <a:t> · github.com/olonok69/learning_to_rank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Tres bloques, una demo ejecutable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Segoe UI"/>
              </a:rPr>
              <a:t>BLOQUE 1 · Fundamentos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01  Ranking no es clasificación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0662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02  El slate: la unidad de dato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18688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03  Pointwise · pairwise · listwise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30752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04  Métricas offline: NDCG, MAP, MRR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42816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05  NDCG@5 calculado a mano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10328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CC28C"/>
                </a:solidFill>
                <a:latin typeface="Segoe UI"/>
              </a:rPr>
              <a:t>BLOQUE 3 · Ejecutar y extender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21808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35838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12  Runbook: de cero a los cuatro modelos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33872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87044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13  Fallos comunes · cierre y siguientes pasos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AA2C7"/>
                </a:solidFill>
                <a:latin typeface="Segoe UI"/>
              </a:rPr>
              <a:t>BLOQUE 2 · El repositorio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19456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231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06  Mapa del repo y de la documentación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70662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07  El dataset sintético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218688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32552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08  Baseline pointwise calibrado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30752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767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09  XGBRanker y LGBMRanker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42816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279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10  allRank: LTR neural en PyTorch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75488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79145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11  Resultados lado a lado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26694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5303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—   Lectura crítica de esos resultados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Segoe UI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EAED"/>
                </a:solidFill>
                <a:latin typeface="Segoe UI"/>
              </a:rPr>
              <a:t>Fundamentos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5176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Qué cambia cuando el objetivo es el orden dentro de una lista y no el valor de una fila.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01 · Ranking no es clasificación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611880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65760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02 · El slate: la unidad de dato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78808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224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03 · Las tres familias de algoritmos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78808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224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04 · Métricas offline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745736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791456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05 · NDCG@5 a mano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745736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791456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→  Guía: docs/THEORY_TO_PRACTICE_GUIDE.md §0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Segoe UI"/>
              </a:rPr>
              <a:t>BLOQUE 1 · 01 ·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Cuatro cosas que cambian respecto a clasificar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330952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7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El objetivo es relativo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279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Importa el orden dentro de cada query, no la calidad absoluta del score global.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874519"/>
            <a:ext cx="5330952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37376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020824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La posición pesa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331720"/>
            <a:ext cx="4279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Acertar el top-3 vale mucho más que ordenar bien las posiciones 30 a 40.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44952"/>
            <a:ext cx="5330952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7" y="324612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2644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91256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El contexto es la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4279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El mismo valor de feature significa cosas distintas bajo queries distintas.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3044952"/>
            <a:ext cx="5330952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37376" y="324612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7376" y="326440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191256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La métrica es por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502152"/>
            <a:ext cx="4279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NDCG se calcula por slate y se promedia; nunca se mezclan filas de queries distintas.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D97757"/>
                </a:solidFill>
                <a:latin typeface="Segoe UI"/>
              </a:rPr>
              <a:t>El error que invalida todo el experimento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608576"/>
            <a:ext cx="5394960" cy="106070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791456"/>
            <a:ext cx="493776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# global: mezcla filas de queries distintas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ndcg_score(y_true, y_score)          # ✗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# por query: respeta las fronteras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grouped_ndcg_at_k(y, s, group, k=5)  #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4343400"/>
            <a:ext cx="5330952" cy="12801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454456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Dónde vive esto en el repo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846320"/>
            <a:ext cx="478231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Las fronteras de query se materializan en qid y group — src/ltr_demo/data_utils.py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Toda métrica recorre bloques contiguos — src/ltr_demo/metrics.py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33872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5833872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61304"/>
            <a:ext cx="10469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Si las fronteras de query están mal, la métrica no está sesgada: está vacía. 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Segoe UI"/>
              </a:rPr>
              <a:t>BLOQUE 1 · 02 · LA UNIDAD DE DATO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Un dataset, dos representaciones del mismo slate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8366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Segoe UI"/>
              </a:rPr>
              <a:t>LibSVM — lo que consume allRank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157276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4892040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&lt;label&gt; qid:&lt;query&gt; &lt;idx&gt;:&lt;valor&gt; ...</a:t>
            </a:r>
          </a:p>
          <a:p>
            <a:pPr algn="l">
              <a:spcAft>
                <a:spcPts val="300"/>
              </a:spcAft>
            </a:pPr>
            <a:endParaRPr sz="1050" b="0">
              <a:solidFill>
                <a:srgbClr val="66707E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2 qid:0 0:0.3047 1:-1.0399 2:0.7504 ...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2 qid:0 0:-0.1848 1:-0.6809 2:1.2225 ...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1 qid:0 0:1.4370 1:0.4046 2:-0.2129 ...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...  15 filas por qid, 200 qid en 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8366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AA2C7"/>
                </a:solidFill>
                <a:latin typeface="Segoe UI"/>
              </a:rPr>
              <a:t>NPZ — lo que consumen XGBoost y LightGBM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5349240" cy="157276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77440"/>
            <a:ext cx="4892040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train_X      (3000, 20)   float32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train_y      (3000,)      int32  0..4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train_qid    (3000,)      0..199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train_group  (200,)       todo 15</a:t>
            </a:r>
          </a:p>
          <a:p>
            <a:pPr algn="l">
              <a:spcAft>
                <a:spcPts val="300"/>
              </a:spcAft>
            </a:pPr>
            <a:endParaRPr sz="1050" b="0">
              <a:solidFill>
                <a:srgbClr val="E8EAED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# group = filas por query, EN ORDEN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41648"/>
            <a:ext cx="2075688" cy="10241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207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97757"/>
                </a:solidFill>
                <a:latin typeface="Segoe UI"/>
              </a:rP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663440"/>
            <a:ext cx="18928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9AA4B2"/>
                </a:solidFill>
                <a:latin typeface="Segoe UI"/>
              </a:rPr>
              <a:t>queries en 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52928" y="4041648"/>
            <a:ext cx="2075688" cy="10241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52928" y="4187952"/>
            <a:ext cx="207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97757"/>
                </a:solidFill>
                <a:latin typeface="Segoe UI"/>
              </a:rP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4663440"/>
            <a:ext cx="18928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9AA4B2"/>
                </a:solidFill>
                <a:latin typeface="Segoe UI"/>
              </a:rPr>
              <a:t>queries en validación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4041648"/>
            <a:ext cx="2075688" cy="10241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65776" y="4187952"/>
            <a:ext cx="207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D97757"/>
                </a:solidFill>
                <a:latin typeface="Segoe U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663440"/>
            <a:ext cx="18928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9AA4B2"/>
                </a:solidFill>
                <a:latin typeface="Segoe UI"/>
              </a:rPr>
              <a:t>items por slate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8624" y="4041648"/>
            <a:ext cx="2075688" cy="10241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78624" y="4187952"/>
            <a:ext cx="207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7AA2C7"/>
                </a:solidFill>
                <a:latin typeface="Segoe UI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4663440"/>
            <a:ext cx="18928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9AA4B2"/>
                </a:solidFill>
                <a:latin typeface="Segoe UI"/>
              </a:rPr>
              <a:t>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1472" y="4041648"/>
            <a:ext cx="2075688" cy="10241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91472" y="4187952"/>
            <a:ext cx="207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7AA2C7"/>
                </a:solidFill>
                <a:latin typeface="Segoe UI"/>
              </a:rPr>
              <a:t>0–4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1" y="4663440"/>
            <a:ext cx="18928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9AA4B2"/>
                </a:solidFill>
                <a:latin typeface="Segoe UI"/>
              </a:rPr>
              <a:t>niveles de relevancia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21808"/>
            <a:ext cx="10927080" cy="5486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321808"/>
            <a:ext cx="82296" cy="54864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349240"/>
            <a:ext cx="104698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Un solo generador escribe los dos formatos: por eso los cuatro modelos son comparables.  »   —  scripts/generate_dataset.py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Segoe UI"/>
              </a:rPr>
              <a:t>BLOQUE 1 · 03 · ALGORITMOS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Pointwise, pairwise, listwise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538728" cy="26060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D97757"/>
                </a:solidFill>
                <a:latin typeface="Segoe UI"/>
              </a:rPr>
              <a:t>Pointwise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50592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Predice un score por item, de forma independiente.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27248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Entrena un clasificador/regresor estándar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En inferencia, ordena por score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+  Baseline simple, tooling normal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−  La loss no ve el orden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En el repo: XGBClassifier calibrado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874519"/>
            <a:ext cx="3538728" cy="26060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7AA2C7"/>
                </a:solidFill>
                <a:latin typeface="Segoe UI"/>
              </a:rPr>
              <a:t>Pairwise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50592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Aprende qué item debe ir por encima de cuál, dentro de la query.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27248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Construye pares por query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Optimiza una loss de preferencia (RankNet)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+  Modela el orden directamente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−  Generar pares es caro; sigue siendo una aproximación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En el repo: implícito en lambdarank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1874519"/>
            <a:ext cx="3538728" cy="26060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3" y="20756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8CC28C"/>
                </a:solidFill>
                <a:latin typeface="Segoe UI"/>
              </a:rPr>
              <a:t>Listwise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450592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Optimiza sobre la lista completa, alineado con NDCG.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3127248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Gradientes según impacto en el top de lista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LambdaMART / lambdarank / lambdaLoss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+  Mejor calidad offline en tabular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−  Objetivo más difícil de tunear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▸  En el repo: XGBRanker, LGBMRanker, allRank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10927080" cy="10241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910328"/>
            <a:ext cx="10378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El repo no elige por ti: te deja medir los tres sobre el mismo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9512"/>
            <a:ext cx="10378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El baseline pointwise existe para tener un punto de referencia honesto antes de introducir una loss de ranking.   ▸  Los rankers de árboles son el caballo de batalla de producción en datos tabulares.   ▸  allRank aparece para enseñar la variante neural y el coste operativo que trae.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Segoe UI"/>
              </a:rPr>
              <a:t>BLOQUE 1 · 04 · 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Qué mide cada métrica y cuándo usarla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330952" cy="1325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D97757"/>
                </a:solidFill>
                <a:latin typeface="Segoe UI"/>
              </a:rPr>
              <a:t>NDCG@k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800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Qué mide  </a:t>
            </a:r>
            <a:r>
              <a:rPr sz="1050" b="0">
                <a:solidFill>
                  <a:srgbClr val="9AA4B2"/>
                </a:solidFill>
                <a:latin typeface="Segoe UI"/>
              </a:rPr>
              <a:t>Relevancia graduada con descuento por posición, normalizada a [0,1].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Cuándo  </a:t>
            </a:r>
            <a:r>
              <a:rPr sz="1050" b="0">
                <a:solidFill>
                  <a:srgbClr val="9AA4B2"/>
                </a:solidFill>
                <a:latin typeface="Segoe UI"/>
              </a:rPr>
              <a:t>Métrica primaria aquí: las etiquetas son graduadas (0–4).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16935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D97757"/>
                </a:solidFill>
                <a:latin typeface="Consolas"/>
              </a:rPr>
              <a:t>grouped_ndcg_at_k · summarize_ndcg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874519"/>
            <a:ext cx="5330952" cy="1325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0574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7AA2C7"/>
                </a:solidFill>
                <a:latin typeface="Segoe UI"/>
              </a:rPr>
              <a:t>MAP@k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404872"/>
            <a:ext cx="4800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Qué mide  </a:t>
            </a:r>
            <a:r>
              <a:rPr sz="1050" b="0">
                <a:solidFill>
                  <a:srgbClr val="9AA4B2"/>
                </a:solidFill>
                <a:latin typeface="Segoe UI"/>
              </a:rPr>
              <a:t>Precisión promedio a lo largo de las posiciones relevantes.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Cuándo  </a:t>
            </a:r>
            <a:r>
              <a:rPr sz="1050" b="0">
                <a:solidFill>
                  <a:srgbClr val="9AA4B2"/>
                </a:solidFill>
                <a:latin typeface="Segoe UI"/>
              </a:rPr>
              <a:t>Relevancia binaria; recuperación clásica.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916935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AA2C7"/>
                </a:solidFill>
                <a:latin typeface="Consolas"/>
              </a:rPr>
              <a:t>grouped_map_at_k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55848"/>
            <a:ext cx="5330952" cy="1325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53872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7AA2C7"/>
                </a:solidFill>
                <a:latin typeface="Segoe UI"/>
              </a:rPr>
              <a:t>MRR@k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4800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Qué mide  </a:t>
            </a:r>
            <a:r>
              <a:rPr sz="1050" b="0">
                <a:solidFill>
                  <a:srgbClr val="9AA4B2"/>
                </a:solidFill>
                <a:latin typeface="Segoe UI"/>
              </a:rPr>
              <a:t>Inverso del rango del primer resultado relevante.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Cuándo  </a:t>
            </a:r>
            <a:r>
              <a:rPr sz="1050" b="0">
                <a:solidFill>
                  <a:srgbClr val="9AA4B2"/>
                </a:solidFill>
                <a:latin typeface="Segoe UI"/>
              </a:rPr>
              <a:t>El valor lo domina el primer acierto.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98264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AA2C7"/>
                </a:solidFill>
                <a:latin typeface="Consolas"/>
              </a:rPr>
              <a:t>grouped_mrr_at_k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3355848"/>
            <a:ext cx="5330952" cy="1325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353872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AA4B2"/>
                </a:solidFill>
                <a:latin typeface="Segoe UI"/>
              </a:rPr>
              <a:t>Precision / Recall@k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886200"/>
            <a:ext cx="4800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Qué mide  </a:t>
            </a:r>
            <a:r>
              <a:rPr sz="1050" b="0">
                <a:solidFill>
                  <a:srgbClr val="9AA4B2"/>
                </a:solidFill>
                <a:latin typeface="Segoe UI"/>
              </a:rPr>
              <a:t>Fracción de relevantes en el top-k / cobertura del total.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66707E"/>
                </a:solidFill>
                <a:latin typeface="Segoe UI"/>
              </a:rPr>
              <a:t>Cuándo  </a:t>
            </a:r>
            <a:r>
              <a:rPr sz="1050" b="0">
                <a:solidFill>
                  <a:srgbClr val="9AA4B2"/>
                </a:solidFill>
                <a:latin typeface="Segoe UI"/>
              </a:rPr>
              <a:t>Diagnóstico y comunicación con negocio.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398264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AA4B2"/>
                </a:solidFill>
                <a:latin typeface="Consolas"/>
              </a:rPr>
              <a:t>no implementadas — hueco abierto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92040"/>
            <a:ext cx="1092708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093207"/>
            <a:ext cx="10378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Dos reglas que el repo respeta — y una que conviene mirar de cerca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59"/>
            <a:ext cx="1037844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Toda métrica se calcula por query y luego se promedia: una query = un voto, sin importar cuántas filas tenga.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NDCG usa etiquetas graduadas; MAP y MRR binarizan con un umbral (por defecto relevancia ≥ 2).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Ojo: sklearn.ndcg_score usa ganancia LINEAL (rel), mientras XGBoost y LightGBM optimizan ganancia EXPONENCIAL (2^rel − 1). Se reporta una y se optimiza otra.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Segoe UI"/>
              </a:rPr>
              <a:t>BLOQUE 1 · 05 · EJEMPLO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NDCG@5, calculado a mano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Segoe UI"/>
              </a:rPr>
              <a:t>Un slate de 5 candidatos, en el orden que devuelve el modelo. La primera fila es su relevancia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12848"/>
            <a:ext cx="10927080" cy="384048"/>
          </a:xfrm>
          <a:prstGeom prst="rect">
            <a:avLst/>
          </a:prstGeom>
          <a:solidFill>
            <a:srgbClr val="232C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231136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2231136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D97757"/>
                </a:solidFill>
                <a:latin typeface="Segoe UI"/>
              </a:rPr>
              <a:t>pos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9864" y="2231136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D97757"/>
                </a:solidFill>
                <a:latin typeface="Segoe UI"/>
              </a:rPr>
              <a:t>pos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231136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D97757"/>
                </a:solidFill>
                <a:latin typeface="Segoe UI"/>
              </a:rPr>
              <a:t>pos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6" y="2231136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D97757"/>
                </a:solidFill>
                <a:latin typeface="Segoe UI"/>
              </a:rPr>
              <a:t>pos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231136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D97757"/>
                </a:solidFill>
                <a:latin typeface="Segoe UI"/>
              </a:rPr>
              <a:t>pos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5288" y="2231136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D97757"/>
                </a:solidFill>
                <a:latin typeface="Segoe UI"/>
              </a:rPr>
              <a:t>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96896"/>
            <a:ext cx="10927080" cy="40233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2615184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8EAED"/>
                </a:solidFill>
                <a:latin typeface="Segoe UI"/>
              </a:rPr>
              <a:t>Relevancia real (0–4)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2615184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9864" y="2615184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615184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615184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615184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288" y="261518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999232"/>
            <a:ext cx="10927080" cy="40233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0175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8EAED"/>
                </a:solidFill>
                <a:latin typeface="Segoe UI"/>
              </a:rPr>
              <a:t>Descuento  1 / log₂(i+1)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301752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1.000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9864" y="301752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0.631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01752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6" y="301752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0.431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3017520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0.387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05288" y="30175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401568"/>
            <a:ext cx="10927080" cy="40233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3419856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8EAED"/>
                </a:solidFill>
                <a:latin typeface="Segoe UI"/>
              </a:rPr>
              <a:t>Ganancia × descuento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341985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3.000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9864" y="341985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0.631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41985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2.000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6" y="341985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3419856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0.774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288" y="341985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6.405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803904"/>
            <a:ext cx="10927080" cy="40233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7" y="3822191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8EAED"/>
                </a:solidFill>
                <a:latin typeface="Segoe UI"/>
              </a:rPr>
              <a:t>Orden ideal  4,3,2,1,0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8" y="3822191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4.000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9864" y="3822191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1.893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822191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1.000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37576" y="3822191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0.431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1432" y="3822191"/>
            <a:ext cx="859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05288" y="3822191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7.324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462272"/>
            <a:ext cx="5330952" cy="9601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" y="4626864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NDCG@5  =  DCG / IDCG  =  6.405 / 7.324  =  </a:t>
            </a:r>
            <a:r>
              <a:rPr sz="1500" b="1">
                <a:solidFill>
                  <a:srgbClr val="D97757"/>
                </a:solidFill>
                <a:latin typeface="Segoe UI"/>
              </a:rPr>
              <a:t>0.874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7E"/>
                </a:solidFill>
                <a:latin typeface="Segoe UI"/>
              </a:rPr>
              <a:t>Es lo que devuelve sklearn.ndcg_score — ganancia lineal.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4462272"/>
            <a:ext cx="5330952" cy="9601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10528" y="466344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7AA2C7"/>
                </a:solidFill>
                <a:latin typeface="Segoe UI"/>
              </a:rPr>
              <a:t>Con ganancia exponencial: 0.763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4937760"/>
            <a:ext cx="4782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Misma lista, misma verdad, −11 puntos. La convención de ganancia no es un detalle: es parte de la definición de la métrica.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870448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" y="5870448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5897880"/>
            <a:ext cx="10469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Antes de comparar dos modelos, comprueba que ambos se miden con la misma convención de ganancia. 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AA2C7"/>
                </a:solidFill>
                <a:latin typeface="Segoe UI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EAED"/>
                </a:solidFill>
                <a:latin typeface="Segoe UI"/>
              </a:rPr>
              <a:t>El repositorio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51760"/>
            <a:ext cx="1280160" cy="4572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Cuatro implementaciones sobre un único dataset, con la misma función de evaluación.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06 · Mapa del repo y de los docs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611880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65760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07 · El dataset sintético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78808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224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08 · Baseline pointwise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78808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224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09 · XGBRanker y LGBMRanker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745736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791456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10 · allRank (PyTorch)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745736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791456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11 · Resultados y lectura crítica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AA2C7"/>
                </a:solidFill>
                <a:latin typeface="Segoe UI"/>
              </a:rPr>
              <a:t>BLOQUE 2 · 06 · ORIENTACIÓN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Qué hay dónde, y qué leer según lo que necesites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349240" cy="440740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4892040" cy="407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AA2C7"/>
                </a:solidFill>
                <a:latin typeface="Consolas"/>
              </a:rPr>
              <a:t>src/ltr_demo/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data_utils.py    generación + export dual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metrics.py       NDCG / MAP / MRR agrupadas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AA2C7"/>
                </a:solidFill>
                <a:latin typeface="Consolas"/>
              </a:rPr>
              <a:t>scripts/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generate_dataset.py        → NPZ + LibSVM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run_pointwise_baseline.py  → baseline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run_tree_rankers.py        → XGB + LGBM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run_allrank.py             → neural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AA2C7"/>
                </a:solidFill>
                <a:latin typeface="Consolas"/>
              </a:rPr>
              <a:t>data/demo/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dataset.npz  ·  allrank/{train,vali}.txt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AA2C7"/>
                </a:solidFill>
                <a:latin typeface="Consolas"/>
              </a:rPr>
              <a:t>outputs/allrank/results/demo_allrank/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model.pkl · training.log · experiment_result.json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AA2C7"/>
                </a:solidFill>
                <a:latin typeface="Consolas"/>
              </a:rPr>
              <a:t>docs/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DEMO_RUNBOOK.md          + .es.md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THEORY_TO_PRACTICE_GUIDE.md + .es.md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AA2C7"/>
                </a:solidFill>
                <a:latin typeface="Consolas"/>
              </a:rPr>
              <a:t>README.md  ·  README.es.md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pyproject.toml  ·  uv.lock  ·  .python-version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49240" cy="113385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7AA2C7"/>
                </a:solidFill>
                <a:latin typeface="Consolas"/>
              </a:rPr>
              <a:t>README.md / README.es.md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04872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Qué es el proyecto y cómo se ejecuta cada uno de los cuatro scripts. Empieza aquí.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54679"/>
            <a:ext cx="5349240" cy="113385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7AA2C7"/>
                </a:solidFill>
                <a:latin typeface="Consolas"/>
              </a:rPr>
              <a:t>docs/DEMO_RUNBOOK.md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85031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Sólo comandos: secuencia rápida, artefactos esperados y troubleshooting de instalación.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34840"/>
            <a:ext cx="5349240" cy="113385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6177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8CC28C"/>
                </a:solidFill>
                <a:latin typeface="Consolas"/>
              </a:rPr>
              <a:t>docs/THEORY_TO_PRACTICE_GUIDE.md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65192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El deep dive: teoría LTR (§0), mapeo teoría→código (§1–4), extensión (§6) y fallos comunes (§7).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5696712"/>
            <a:ext cx="5349240" cy="5669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589788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58521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9AA4B2"/>
                </a:solidFill>
                <a:latin typeface="Segoe UI"/>
              </a:rPr>
              <a:t>Todo bilingüe: cada .md tiene su </a:t>
            </a:r>
            <a:r>
              <a:rPr sz="1050" b="0">
                <a:solidFill>
                  <a:srgbClr val="8CC28C"/>
                </a:solidFill>
                <a:latin typeface="Consolas"/>
              </a:rPr>
              <a:t>.es.md</a:t>
            </a:r>
            <a:r>
              <a:rPr sz="1050" b="0">
                <a:solidFill>
                  <a:srgbClr val="9AA4B2"/>
                </a:solidFill>
                <a:latin typeface="Segoe UI"/>
              </a:rPr>
              <a:t> al 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AA2C7"/>
                </a:solidFill>
                <a:latin typeface="Segoe UI"/>
              </a:rPr>
              <a:t>BLOQUE 2 · 07 ·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Cómo se fabrica la señal de relevancia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83664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AA2C7"/>
                </a:solidFill>
                <a:latin typeface="Segoe UI"/>
              </a:rPr>
              <a:t>src/ltr_demo/data_utils.py · _build_split()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60350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5577840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# 1 · señal lineal, features decrecientes en peso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w = np.linspace(1.4, 0.3, num=6)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signal = X[:, :6] @ w</a:t>
            </a:r>
          </a:p>
          <a:p>
            <a:pPr algn="l">
              <a:spcAft>
                <a:spcPts val="300"/>
              </a:spcAft>
            </a:pPr>
            <a:endParaRPr sz="1050" b="0">
              <a:solidFill>
                <a:srgbClr val="E8EAED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# 2 · términos no lineales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signal += 0.4*np.sin(X[:,0]) + 0.2*np.cos(X[:,1])</a:t>
            </a:r>
          </a:p>
          <a:p>
            <a:pPr algn="l">
              <a:spcAft>
                <a:spcPts val="300"/>
              </a:spcAft>
            </a:pPr>
            <a:endParaRPr sz="1050" b="0">
              <a:solidFill>
                <a:srgbClr val="E8EAED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# 3 · normaliza y cuantiza a 5 niveles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signal = (signal - min) / (max - min + 1e-8)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y = np.clip(np.floor(signal * 5), 0, 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194560"/>
            <a:ext cx="4663440" cy="239572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23957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Distribución real de etiquetas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263347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6707E"/>
                </a:solidFill>
                <a:latin typeface="Segoe UI"/>
              </a:rPr>
              <a:t>nivel        train        valid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2944368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AA2C7"/>
                </a:solidFill>
                <a:latin typeface="Consolas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999232"/>
            <a:ext cx="112049" cy="12801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46920" y="2944368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Consolas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944368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707E"/>
                </a:solidFill>
                <a:latin typeface="Consolas"/>
              </a:rPr>
              <a:t>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323697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AA2C7"/>
                </a:solidFill>
                <a:latin typeface="Consola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91840"/>
            <a:ext cx="932808" cy="12801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46920" y="3236976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Consolas"/>
              </a:rPr>
              <a:t>666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236976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707E"/>
                </a:solidFill>
                <a:latin typeface="Consolas"/>
              </a:rPr>
              <a:t>365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529584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AA2C7"/>
                </a:solidFill>
                <a:latin typeface="Consolas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584448"/>
            <a:ext cx="1920240" cy="12801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0" y="3529584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Consolas"/>
              </a:rPr>
              <a:t>1 371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529584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707E"/>
                </a:solidFill>
                <a:latin typeface="Consolas"/>
              </a:rPr>
              <a:t>523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3822191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AA2C7"/>
                </a:solidFill>
                <a:latin typeface="Consola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877055"/>
            <a:ext cx="1088276" cy="12801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46920" y="3822191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Consolas"/>
              </a:rPr>
              <a:t>777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822191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707E"/>
                </a:solidFill>
                <a:latin typeface="Consolas"/>
              </a:rPr>
              <a:t>224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4114800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AA2C7"/>
                </a:solidFill>
                <a:latin typeface="Consolas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4169663"/>
            <a:ext cx="148464" cy="12801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46920" y="4114800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AA4B2"/>
                </a:solidFill>
                <a:latin typeface="Consolas"/>
              </a:rPr>
              <a:t>106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114800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707E"/>
                </a:solidFill>
                <a:latin typeface="Consolas"/>
              </a:rPr>
              <a:t>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4315968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7E"/>
                </a:solidFill>
                <a:latin typeface="Segoe UI"/>
              </a:rPr>
              <a:t>3 000 filas en train · 1 200 en validación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663440"/>
            <a:ext cx="5349240" cy="9601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864607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8CC28C"/>
                </a:solidFill>
                <a:latin typeface="Segoe UI"/>
              </a:rPr>
              <a:t>Lo que hace bien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7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Un único generador escribe NPZ y LibSVM desde el mismo objeto en memoria, con seed fija: los cuatro modelos ven los mismos datos.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663440"/>
            <a:ext cx="5349240" cy="9601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4864607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D97757"/>
                </a:solidFill>
                <a:latin typeface="Segoe UI"/>
              </a:rPr>
              <a:t>Lo que conviene saber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138927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No hay ruido irreducible: la etiqueta es función determinista de las features. El problema es más fácil de lo que parece (ver slide 16).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870448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080" y="5870448"/>
            <a:ext cx="82296" cy="475488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897880"/>
            <a:ext cx="10469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El diseño de la etiqueta codifica la intención de negocio. Cambiar su semántica cambia qué significa ‘buen ranking’. 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AA2C7"/>
                </a:solidFill>
                <a:latin typeface="Segoe UI"/>
              </a:rPr>
              <a:t>BLOQUE 2 · 08 ·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Pointwise: XGBClassifier calibrado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349240" cy="1874519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La estrategia en cinco 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4800600" cy="12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1 ·  Binariza la etiqueta graduada  (rel ≥ 2 → positivo)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2 ·  Entrena un clasificador fila a fila  (binary:logistic)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3 ·  Calibra las probabilidades  (CalibratedClassifierCV, sigmoid, cv=3)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4 ·  Ordena dentro de cada query por probabilidad calibrada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5 ·  Evalúa con NDCG / MAP / MRR agrupadas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1874519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2057400"/>
            <a:ext cx="4892040" cy="1545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XGBClassifier(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  objective="binary:logistic",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  n_estimators=250, max_depth=6,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  learning_rate=0.07, subsample=0.9,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CalibratedClassifierCV(clf, "sigmoid", cv=3)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score = calibrated.predict_proba(X)[:,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7AA2C7"/>
                </a:solidFill>
                <a:latin typeface="Segoe UI"/>
              </a:rPr>
              <a:t>Salida real de scripts/run_pointwise_baseline.py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88536"/>
            <a:ext cx="17007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07408"/>
            <a:ext cx="1700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8EAED"/>
                </a:solidFill>
                <a:latin typeface="Segoe UI"/>
              </a:rPr>
              <a:t>0.9679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8231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6707E"/>
                </a:solidFill>
                <a:latin typeface="Consolas"/>
              </a:rPr>
              <a:t>NDCG@5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78024" y="4288536"/>
            <a:ext cx="17007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78024" y="4407408"/>
            <a:ext cx="1700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8EAED"/>
                </a:solidFill>
                <a:latin typeface="Segoe UI"/>
              </a:rPr>
              <a:t>0.9803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024" y="478231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6707E"/>
                </a:solidFill>
                <a:latin typeface="Consolas"/>
              </a:rPr>
              <a:t>NDCG@10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4288536"/>
            <a:ext cx="17007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15968" y="4407408"/>
            <a:ext cx="1700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8EAED"/>
                </a:solidFill>
                <a:latin typeface="Segoe UI"/>
              </a:rPr>
              <a:t>0.9975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78231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6707E"/>
                </a:solidFill>
                <a:latin typeface="Consolas"/>
              </a:rPr>
              <a:t>MAP@5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4288536"/>
            <a:ext cx="17007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53912" y="4407408"/>
            <a:ext cx="1700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8EAED"/>
                </a:solidFill>
                <a:latin typeface="Segoe UI"/>
              </a:rPr>
              <a:t>0.9803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478231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6707E"/>
                </a:solidFill>
                <a:latin typeface="Consolas"/>
              </a:rPr>
              <a:t>MAP@10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5" y="4288536"/>
            <a:ext cx="17007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91855" y="4407408"/>
            <a:ext cx="1700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D97757"/>
                </a:solidFill>
                <a:latin typeface="Segoe UI"/>
              </a:rPr>
              <a:t>1.0000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5" y="478231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6707E"/>
                </a:solidFill>
                <a:latin typeface="Consolas"/>
              </a:rPr>
              <a:t>MRR@5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799" y="4288536"/>
            <a:ext cx="17007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29799" y="4407408"/>
            <a:ext cx="1700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D97757"/>
                </a:solidFill>
                <a:latin typeface="Segoe UI"/>
              </a:rPr>
              <a:t>1.0000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799" y="4782312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6707E"/>
                </a:solidFill>
                <a:latin typeface="Consolas"/>
              </a:rPr>
              <a:t>MRR@10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13248"/>
            <a:ext cx="10927080" cy="5486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5413248"/>
            <a:ext cx="82296" cy="5486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40680"/>
            <a:ext cx="104698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MRR = 1.0000 exacto no es un modelo perfecto: es una métrica saturada. Volvemos a esto en el slide 16. 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AA2C7"/>
                </a:solidFill>
                <a:latin typeface="Segoe UI"/>
              </a:rPr>
              <a:t>BLOQUE 2 · 09 ·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XGBRanker y LGBMRanker sobre el mismo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8366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Segoe UI"/>
              </a:rPr>
              <a:t>XGBoost · objetivo listwise nativo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162763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489204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XGBRanker(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  objective="rank:ndcg",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eval_metric=["ndcg@5", "ndcg@10"],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n_estimators=200, max_depth=6,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learning_rate=0.07, random_state=42)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D97757"/>
                </a:solidFill>
                <a:latin typeface="Consolas"/>
              </a:rPr>
              <a:t>.fit(X, y, group=group_train)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8366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AA2C7"/>
                </a:solidFill>
                <a:latin typeface="Segoe UI"/>
              </a:rPr>
              <a:t>LightGBM · LambdaMART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5349240" cy="162763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377440"/>
            <a:ext cx="489204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LGBMRanker(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  objective="lambdarank",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  label_gain=[0, 1, 3, 7, 15],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metric="ndcg", num_leaves=31,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n_estimators=200, learning_rate=0.07)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D97757"/>
                </a:solidFill>
                <a:latin typeface="Consolas"/>
              </a:rPr>
              <a:t>.fit(X, y, group=group_train)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3538728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group, no qid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29900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Ambos esperan el vector de tamaños por query, no el id: [15, 15, 15, …]. Debe coincidir con el orden de filas.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4069080"/>
            <a:ext cx="3538728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08576" y="427024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D97757"/>
                </a:solidFill>
                <a:latin typeface="Segoe UI"/>
              </a:rPr>
              <a:t>label_gain = 2^rel − 1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544568"/>
            <a:ext cx="299008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[0,1,3,7,15] es la ganancia exponencial. Es la convención que optimiza LightGBM… y no la que reporta el repo.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4069080"/>
            <a:ext cx="3538728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427024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Resultados reales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553712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Consolas"/>
              </a:rPr>
              <a:t>XGBRanker   </a:t>
            </a:r>
            <a:r>
              <a:rPr sz="1050" b="1">
                <a:solidFill>
                  <a:srgbClr val="E8EAED"/>
                </a:solidFill>
                <a:latin typeface="Consolas"/>
              </a:rPr>
              <a:t>0.9874 / 0.9907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Consolas"/>
              </a:rPr>
              <a:t>LGBMRanker  </a:t>
            </a:r>
            <a:r>
              <a:rPr sz="1050" b="1">
                <a:solidFill>
                  <a:srgbClr val="8CC28C"/>
                </a:solidFill>
                <a:latin typeface="Consolas"/>
              </a:rPr>
              <a:t>0.9933 / 0.9949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NDCG@5 / NDCG@10 en validación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870448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870448"/>
            <a:ext cx="82296" cy="475488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469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Misma función de evaluación para los dos modelos: es lo único que hace la comparación honesta. 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AA2C7"/>
                </a:solidFill>
                <a:latin typeface="Segoe UI"/>
              </a:rPr>
              <a:t>BLOQUE 2 · 10 · NEURAL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allRank: LTR neural en PyTorch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83664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AA2C7"/>
                </a:solidFill>
                <a:latin typeface="Segoe UI"/>
              </a:rPr>
              <a:t>Config generada en runtime · scripts/run_allrank.py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2148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489204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"model": {"fc_model": {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  "sizes": [64, 32], "dropout": 0.1,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  "input_norm": true }},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"loss": {"name": "lambdaLoss",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  "args": {"weighing_scheme":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            "lambdaRank_scheme", "k": 10}},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"training": {"epochs": 5, ...},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"data": {"slate_length": 15, "batch_size": 16}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349240" cy="2148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Entrenamiento real · 5 epochs en 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6707E"/>
                </a:solidFill>
                <a:latin typeface="Consolas"/>
              </a:rPr>
              <a:t>epoch      val NDCG@5     val NDCG@10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90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A4B2"/>
                </a:solidFill>
                <a:latin typeface="Consolas"/>
              </a:rPr>
              <a:t>  0          0.687          0.769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55264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A4B2"/>
                </a:solidFill>
                <a:latin typeface="Consolas"/>
              </a:rPr>
              <a:t>  1          0.824          0.870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A4B2"/>
                </a:solidFill>
                <a:latin typeface="Consolas"/>
              </a:rPr>
              <a:t>  2          0.876          0.907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5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A4B2"/>
                </a:solidFill>
                <a:latin typeface="Consolas"/>
              </a:rPr>
              <a:t>  3          0.900          0.929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50791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CC28C"/>
                </a:solidFill>
                <a:latin typeface="Consolas"/>
              </a:rPr>
              <a:t>  4          0.914          0.938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53712"/>
            <a:ext cx="5349240" cy="10698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D97757"/>
                </a:solidFill>
                <a:latin typeface="Segoe UI"/>
              </a:rPr>
              <a:t>Capa de compatibilidad con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4800600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allRank invoca cp y rm por shell. prepare_windows_shims() escribe cp.cmd / rm.cmd y los antepone al PATH del subproceso — sin parchear el paquete instalado.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553712"/>
            <a:ext cx="5349240" cy="10698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75488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Artefactos que deja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4800600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outputs/allrank/results/demo_allrank/ → model.pkl · training.log · experiment_result.json · eventos TensorBoard en tb_evals/  ·  3 497 parámetros entrenables.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70448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870448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897880"/>
            <a:ext cx="10469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Al parar en el epoch 5 la curva sigue subiendo: el número que verás no es el techo del modelo.  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AA2C7"/>
                </a:solidFill>
                <a:latin typeface="Segoe UI"/>
              </a:rPr>
              <a:t>BLOQUE 2 · 11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Los cuatro enfoques, lado a lado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Segoe UI"/>
              </a:rPr>
              <a:t>Mismo dataset de validación (80 queries × 15 items), misma función de NDCG agrupada. seed = 42.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12848"/>
            <a:ext cx="10927080" cy="384048"/>
          </a:xfrm>
          <a:prstGeom prst="rect">
            <a:avLst/>
          </a:prstGeom>
          <a:solidFill>
            <a:srgbClr val="232C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23113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7AA2C7"/>
                </a:solidFill>
                <a:latin typeface="Segoe UI"/>
              </a:rPr>
              <a:t>Enfoque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23113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7AA2C7"/>
                </a:solidFill>
                <a:latin typeface="Segoe UI"/>
              </a:rP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2231136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7AA2C7"/>
                </a:solidFill>
                <a:latin typeface="Segoe UI"/>
              </a:rPr>
              <a:t>NDCG@5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231136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7AA2C7"/>
                </a:solidFill>
                <a:latin typeface="Segoe UI"/>
              </a:rPr>
              <a:t>NDCG@10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6648" y="2231136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7AA2C7"/>
                </a:solidFill>
                <a:latin typeface="Segoe UI"/>
              </a:rPr>
              <a:t>MAP@5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2488" y="2231136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7AA2C7"/>
                </a:solidFill>
                <a:latin typeface="Segoe UI"/>
              </a:rPr>
              <a:t>MRR@5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96896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2615184"/>
            <a:ext cx="3886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8EAED"/>
                </a:solidFill>
                <a:latin typeface="Segoe UI"/>
              </a:rPr>
              <a:t>Pointwise · XGBClassifier calibrado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615184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binary:logistic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615184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0.9679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61518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0.9803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2615184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0.9975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2488" y="2615184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1.0000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54096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072384"/>
            <a:ext cx="3886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8EAED"/>
                </a:solidFill>
                <a:latin typeface="Segoe UI"/>
              </a:rPr>
              <a:t>Listwise · XGBRanker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3072384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rank:ndcg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3072384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0.9874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07238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0.9907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3072384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2488" y="3072384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511296"/>
            <a:ext cx="10927080" cy="457200"/>
          </a:xfrm>
          <a:prstGeom prst="rect">
            <a:avLst/>
          </a:prstGeom>
          <a:solidFill>
            <a:srgbClr val="1F283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3529584"/>
            <a:ext cx="3886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8EAED"/>
                </a:solidFill>
                <a:latin typeface="Segoe UI"/>
              </a:rPr>
              <a:t>Listwise · LGBMRanker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3529584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E8EAED"/>
                </a:solidFill>
                <a:latin typeface="Consolas"/>
              </a:rPr>
              <a:t>lambdarank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3529584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E8EAED"/>
                </a:solidFill>
                <a:latin typeface="Consolas"/>
              </a:rPr>
              <a:t>0.9933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52958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E8EAED"/>
                </a:solidFill>
                <a:latin typeface="Consolas"/>
              </a:rPr>
              <a:t>0.9949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529584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E8EAED"/>
                </a:solidFill>
                <a:latin typeface="Consolas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62488" y="3529584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E8EAED"/>
                </a:solidFill>
                <a:latin typeface="Consolas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968496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3986783"/>
            <a:ext cx="3886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8EAED"/>
                </a:solidFill>
                <a:latin typeface="Segoe UI"/>
              </a:rPr>
              <a:t>Neural · allRank (FC 64→32)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3986783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lambdaLoss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8" y="3986783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0.9144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3986783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0.9376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3986783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62488" y="3986783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9AA4B2"/>
                </a:solidFill>
                <a:latin typeface="Consolas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700016"/>
            <a:ext cx="3538728" cy="1234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4901183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8CC28C"/>
                </a:solidFill>
                <a:latin typeface="Segoe UI"/>
              </a:rPr>
              <a:t>El orden se cumple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157216"/>
            <a:ext cx="2990088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Los objetivos de ranking (rank:ndcg, lambdarank) baten al baseline pointwise en NDCG@5: +2.0 y +2.5 puntos.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34256" y="4700016"/>
            <a:ext cx="3538728" cy="1234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08576" y="4901183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D97757"/>
                </a:solidFill>
                <a:latin typeface="Segoe UI"/>
              </a:rPr>
              <a:t>…pero por muy poco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5157216"/>
            <a:ext cx="2990088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Dos puntos sobre 0.97 es un margen que una sola seed no puede sostener. Faltan intervalos de confianza.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28431" y="4700016"/>
            <a:ext cx="3538728" cy="1234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02752" y="4901183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7AA2C7"/>
                </a:solidFill>
                <a:latin typeface="Segoe UI"/>
              </a:rPr>
              <a:t>allRank va último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5157216"/>
            <a:ext cx="2990088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No porque la familia sea peor: 5 epochs y 3 497 parámetros contra 200 árboles de profundidad 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Segoe UI"/>
              </a:rPr>
              <a:t>BLOQUE 2 · 11b · HONESTIDAD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Cuatro razones para desconfiar de estos números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330952" cy="113385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7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NDCG ≈ 0.99 no es buena noticia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279392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La etiqueta es función determinista de las features: no hay ruido irreducible. Cualquier modelo decente recupera el orden.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874519"/>
            <a:ext cx="5330952" cy="113385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37376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020824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MRR@5 = 1.0000 es degenerado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331720"/>
            <a:ext cx="4279392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Con umbral rel ≥ 2, hay 9.6 positivos de media en cada slate de 15. El primer item casi siempre es relevante.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72968"/>
            <a:ext cx="5330952" cy="113385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7" y="337413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9242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9272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Se optimiza una gain, se reporta otra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0168"/>
            <a:ext cx="4279392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LightGBM usa 2^rel − 1; sklearn.ndcg_score usa rel. En el ejemplo del slide 8 la diferencia era de 11 puntos.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3172968"/>
            <a:ext cx="5330952" cy="1133856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37376" y="337413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7376" y="3392424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319272"/>
            <a:ext cx="4279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Una sola seed, sin intervalos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630168"/>
            <a:ext cx="4279392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seed=42 fija todo. Sin repeticiones no se puede afirmar que LGBM &gt; XGB.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53712"/>
            <a:ext cx="10927080" cy="106984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754880"/>
            <a:ext cx="10378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8CC28C"/>
                </a:solidFill>
                <a:latin typeface="Segoe UI"/>
              </a:rPr>
              <a:t>Cómo se arregla — y son cuatro cambios pequeños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56632"/>
            <a:ext cx="10378440" cy="402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Añadir ruido gaussiano a la señal antes de cuantizar   ▸  Subir el umbral binario a rel ≥ 3 para que MAP/MRR discriminen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Igualar la convención de ganancia entre entrenamiento y evaluación   ▸  Ejecutar N seeds y reportar media ± desviación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70448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870448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97880"/>
            <a:ext cx="10469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Un demo que siempre da 0.99 enseña la API, no el problema.  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CC28C"/>
                </a:solidFill>
                <a:latin typeface="Segoe UI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EAED"/>
                </a:solidFill>
                <a:latin typeface="Segoe UI"/>
              </a:rPr>
              <a:t>Ejecutar y extender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51760"/>
            <a:ext cx="1280160" cy="4572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De un repo clonado a los cuatro modelos entrenados, y qué hacer después.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12 · Runbook completo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611880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65760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13 · Fallos comunes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78808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224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14 · De offline a online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78808"/>
            <a:ext cx="516636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224528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Segoe UI"/>
              </a:rPr>
              <a:t>→  docs/DEMO_RUNBOOK.md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CC28C"/>
                </a:solidFill>
                <a:latin typeface="Segoe UI"/>
              </a:rPr>
              <a:t>BLOQUE 3 · 12 ·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De cero a los cuatro modelos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8366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CC28C"/>
                </a:solidFill>
                <a:latin typeface="Segoe UI"/>
              </a:rPr>
              <a:t>1 · Entorno  (Windows / PowerShell — como está documentado)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623560" cy="248716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5166360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uv venv .venv --python 3.10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.\.venv\Scripts\Activate.ps1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uv sync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uv pip install torch torchvision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uv pip install \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git+https://github.com/allegro/allRank.git \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--no-deps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uv pip install attrs flatten-dict tensorboardX \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  gcsfs google-auth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8366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CC28C"/>
                </a:solidFill>
                <a:latin typeface="Segoe UI"/>
              </a:rPr>
              <a:t>2 · Ejecución  (los cuatro, en este orden)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94560"/>
            <a:ext cx="5074920" cy="248716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8272" y="2377440"/>
            <a:ext cx="4617720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python scripts/generate_dataset.py</a:t>
            </a:r>
          </a:p>
          <a:p>
            <a:pPr algn="l">
              <a:spcAft>
                <a:spcPts val="300"/>
              </a:spcAft>
            </a:pPr>
            <a:endParaRPr sz="1050" b="0">
              <a:solidFill>
                <a:srgbClr val="E8EAED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python scripts/run_pointwise_baseline.py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python scripts/run_tree_rankers.py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CC28C"/>
                </a:solidFill>
                <a:latin typeface="Consolas"/>
              </a:rPr>
              <a:t>python scripts/run_allrank.py</a:t>
            </a:r>
          </a:p>
          <a:p>
            <a:pPr algn="l">
              <a:spcAft>
                <a:spcPts val="300"/>
              </a:spcAft>
            </a:pPr>
            <a:endParaRPr sz="1050" b="0">
              <a:solidFill>
                <a:srgbClr val="8CC28C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E"/>
                </a:solidFill>
                <a:latin typeface="Consolas"/>
              </a:rPr>
              <a:t># inspeccionar el entrenamiento neural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tensorboard --logdir outputs/allrank/tb_evals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56048"/>
            <a:ext cx="5623560" cy="1325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57216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D97757"/>
                </a:solidFill>
                <a:latin typeface="Segoe UI"/>
              </a:rPr>
              <a:t>En Linux / macOS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449824"/>
            <a:ext cx="51206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Consolas"/>
              </a:rPr>
              <a:t>source .venv/bin/activate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…el resto es idéntico. Verificado: los tres primeros scripts corren sin cambios.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956048"/>
            <a:ext cx="5074920" cy="13258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59" y="515721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8CC28C"/>
                </a:solidFill>
                <a:latin typeface="Segoe UI"/>
              </a:rPr>
              <a:t>Artefactos esperados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5449824"/>
            <a:ext cx="45720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AA4B2"/>
                </a:solidFill>
                <a:latin typeface="Consolas"/>
              </a:rPr>
              <a:t>data/demo/dataset.npz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A4B2"/>
                </a:solidFill>
                <a:latin typeface="Consolas"/>
              </a:rPr>
              <a:t>data/demo/allrank/{train,vali}.txt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A4B2"/>
                </a:solidFill>
                <a:latin typeface="Consolas"/>
              </a:rPr>
              <a:t>outputs/allrank/allrank_config.json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A4B2"/>
                </a:solidFill>
                <a:latin typeface="Consolas"/>
              </a:rPr>
              <a:t>outputs/allrank/results/demo_allrank/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CC28C"/>
                </a:solidFill>
                <a:latin typeface="Segoe UI"/>
              </a:rPr>
              <a:t>BLOQUE 3 · 13 ·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Los fallos que rompen un pipeline de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927080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7" y="2075688"/>
            <a:ext cx="457200" cy="4572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9875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Vector group desalineado con el orden de filas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9875519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Síntoma: la loss entrena pero NDCG se queda plano o va al azar. El modelo está comparando items de queries distintas.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10927080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7" y="3063240"/>
            <a:ext cx="457200" cy="4572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08152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008376"/>
            <a:ext cx="9875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label_gain incoherente con la escala de etiquetas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19272"/>
            <a:ext cx="9875519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Síntoma: el modelo prioriza mal el top. Con 5 niveles, label_gain debe tener 5 entradas.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9624"/>
            <a:ext cx="10927080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7" y="4050791"/>
            <a:ext cx="457200" cy="4572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069080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95928"/>
            <a:ext cx="9875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Métrica global en lugar de agrupada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06824"/>
            <a:ext cx="9875519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Síntoma: números excelentes que no se replican en producción. Es el fallo más caro porque no falla ruidosamente.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37176"/>
            <a:ext cx="10927080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1247" y="5038344"/>
            <a:ext cx="457200" cy="4572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5056632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83480"/>
            <a:ext cx="9875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EAED"/>
                </a:solidFill>
                <a:latin typeface="Segoe UI"/>
              </a:rPr>
              <a:t>Entorno de allRank desalineado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294376"/>
            <a:ext cx="9875519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Síntoma: fallos de import o de runtime. Restricciones transitivas antiguas: entorno limpio y Python 3.10.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70448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5870448"/>
            <a:ext cx="82296" cy="4572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97880"/>
            <a:ext cx="10469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E8EAED"/>
                </a:solidFill>
                <a:latin typeface="Segoe UI"/>
              </a:rPr>
              <a:t>«  Los tres primeros no lanzan una excepción. Sólo devuelven un número que parece razonable.  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849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CC28C"/>
                </a:solidFill>
                <a:latin typeface="Segoe U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Segoe UI"/>
              </a:rPr>
              <a:t>Qué llevarse, qué leer, qué correr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36576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7E"/>
                </a:solidFill>
                <a:latin typeface="Segoe UI"/>
              </a:rPr>
              <a:t>Learning to Rank · Charla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538728" cy="2057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8CC28C"/>
                </a:solidFill>
                <a:latin typeface="Segoe UI"/>
              </a:rPr>
              <a:t>Las tres ideas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2990088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1 ·  La query es la unidad de todo: del dato, de la loss y de la métrica.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2 ·  Un baseline pointwise honesto es obligatorio antes de introducir una loss de ranking.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3 ·  Offline NDCG es necesario, no suficiente. El siguiente paso siempre es un experimento online.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74519"/>
            <a:ext cx="3538728" cy="2057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07568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8EAED"/>
                </a:solidFill>
                <a:latin typeface="Segoe UI"/>
              </a:rPr>
              <a:t>Si tienes 10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77439"/>
            <a:ext cx="2990088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README.md — panorama y comandos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scripts/run_tree_rankers.py — 90 líneas, todo el ciclo LTR</a:t>
            </a:r>
          </a:p>
          <a:p>
            <a:pPr algn="l">
              <a:spcAft>
                <a:spcPts val="500"/>
              </a:spcAft>
            </a:pPr>
            <a:endParaRPr sz="1050" b="0">
              <a:solidFill>
                <a:srgbClr val="9AA4B2"/>
              </a:solidFill>
              <a:latin typeface="Segoe UI"/>
            </a:endParaRP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Si tienes una hora: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docs/THEORY_TO_PRACTICE_GUIDE.md §0 (teoría) y §7 (fallos)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1" y="1874519"/>
            <a:ext cx="3538728" cy="2057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075688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7AA2C7"/>
                </a:solidFill>
                <a:latin typeface="Segoe UI"/>
              </a:rPr>
              <a:t>Extender el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77439"/>
            <a:ext cx="2990088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Slates de tamaño variable — data_utils.py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Precision@k / Recall@k — metrics.py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Barrido de hiperparámetros con Optuna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▸  Trazabilidad con MLflow alrededor de ambos runners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8CC28C"/>
                </a:solidFill>
                <a:latin typeface="Segoe UI"/>
              </a:rPr>
              <a:t>De offline a online: lo que el repo aún no cubre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71416"/>
            <a:ext cx="26151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5994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AED"/>
                </a:solidFill>
                <a:latin typeface="Segoe UI"/>
              </a:rPr>
              <a:t>CTR /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01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7E"/>
                </a:solidFill>
                <a:latin typeface="Segoe UI"/>
              </a:rPr>
              <a:t>señal temprana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0711" y="4471416"/>
            <a:ext cx="26151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9311" y="45994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AED"/>
                </a:solidFill>
                <a:latin typeface="Segoe UI"/>
              </a:rPr>
              <a:t>Tasa de conversión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1" y="4901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7E"/>
                </a:solidFill>
                <a:latin typeface="Segoe UI"/>
              </a:rPr>
              <a:t>el objetivo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4471416"/>
            <a:ext cx="26151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9944" y="45994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AED"/>
                </a:solidFill>
                <a:latin typeface="Segoe UI"/>
              </a:rPr>
              <a:t>Ingreso por sesión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901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7E"/>
                </a:solidFill>
                <a:latin typeface="Segoe UI"/>
              </a:rPr>
              <a:t>impacto de negocio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1976" y="4471416"/>
            <a:ext cx="2615184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0576" y="45994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8EAED"/>
                </a:solidFill>
                <a:latin typeface="Segoe UI"/>
              </a:rPr>
              <a:t>Guardarraíles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4901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7E"/>
                </a:solidFill>
                <a:latin typeface="Segoe UI"/>
              </a:rPr>
              <a:t>cancelación, satisfacción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77840"/>
            <a:ext cx="10927080" cy="7040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577840"/>
            <a:ext cx="82296" cy="704088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566928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El repositorio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8CC28C"/>
                </a:solidFill>
                <a:latin typeface="Consolas"/>
              </a:rPr>
              <a:t>github.com/olonok69/learning_to_rank</a:t>
            </a:r>
            <a:r>
              <a:rPr sz="1100" b="0">
                <a:solidFill>
                  <a:srgbClr val="9AA4B2"/>
                </a:solidFill>
                <a:latin typeface="Segoe UI"/>
              </a:rPr>
              <a:t>     ·  4 enfoques  ·  1 dataset  ·  docs bilingües  ·  todo reproducible con seed=42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3709</Words>
  <Application>Microsoft Office PowerPoint</Application>
  <PresentationFormat>Widescreen</PresentationFormat>
  <Paragraphs>493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 SHR</dc:creator>
  <cp:keywords/>
  <dc:description>generated using python-pptx</dc:description>
  <cp:lastModifiedBy>Jan SHR</cp:lastModifiedBy>
  <cp:revision>1</cp:revision>
  <dcterms:created xsi:type="dcterms:W3CDTF">2013-01-27T09:14:16Z</dcterms:created>
  <dcterms:modified xsi:type="dcterms:W3CDTF">2026-08-17T15:54:57Z</dcterms:modified>
  <cp:category/>
</cp:coreProperties>
</file>